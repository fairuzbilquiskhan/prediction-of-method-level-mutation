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0"/>
    <p:restoredTop sz="94681"/>
  </p:normalViewPr>
  <p:slideViewPr>
    <p:cSldViewPr snapToGrid="0">
      <p:cViewPr>
        <p:scale>
          <a:sx n="150" d="100"/>
          <a:sy n="150" d="100"/>
        </p:scale>
        <p:origin x="192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977E-494F-0D57-BB56-7C2C6629A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D07FE-F7A3-12A0-7FFD-79E91B83F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3A1B-75C7-3FD8-525E-BBB2F47A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60D1A-B3DA-5070-32FA-E449638B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CA91-E60A-9357-7786-6172ACB3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5534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85D7-BC71-40C8-C077-236D8200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CBB70-7121-35BC-39A6-05D8F07AC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8FF69-0107-ACD3-1311-CCA5208C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3E56D-FDB9-BE79-1332-B6C998C5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F867-4BC5-BF28-51B1-22CA3322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5974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8F2E-F9F2-7CD1-9A59-800CF545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3CA8E-F5D7-2933-4AC2-6B8F60C97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0DA37-6A9E-941F-0006-06E8007D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468E3-11D6-E1E5-76E0-A7CA8739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980E1-59FA-C4E5-3EC6-F5266F37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2247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4543-FE34-6E28-8786-6AFA42DE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E4F1-7D6D-2EAA-B305-0A2F8F580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CE18F-EABD-DC71-423C-E05DAFFE8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4D555-5F18-FF53-04AA-083D06C9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781A2-7295-86EE-98E3-72809792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058CC-3251-0595-7331-207EEC4D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3726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4A8A-8FA0-1E50-F6C8-928D8497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513C-2AD5-F518-0A20-50D60447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0A1C9-272B-9651-3004-BE7A12D21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6BA60-17C0-1DFB-1F0C-B3DD3312C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AEB8B-AE53-7A4B-3178-A3C535503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80021-D1EE-6390-6E8D-7BAD1CE0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3C276-EE5D-FE24-1D26-6B618F1B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9FB75-6605-7989-46FD-462A3F03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4997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562D-E1CF-FDE4-01F9-B7F5D2B1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22C5A-BF60-B9A3-9DFD-6851FFE2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27D61-A3BA-36BF-B209-35C21C32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329A5-A468-5A29-91CD-6CAEC72D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8611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D5BA2-2216-970F-3528-D4E8BFFB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1777D-B383-B117-9E46-3DF65E90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AF014-AE83-DC8A-8EF9-611BF85E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9786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00E7-87E0-1A28-1E8E-112CD93D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7E11-396C-A2A9-5E81-8DF75357C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E054C-7432-82F4-1AA0-2922E6311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28ABC-B2B5-13E6-5777-03019FAF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E755D-B5C4-640C-3DDD-5B831BEA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32796-2690-11AF-B961-5C1B694B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24969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9051-B598-FFF6-24E6-58EE8256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AAE4F-E2C2-6CB9-F96B-34684B88F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66448-F53E-2274-24E0-041A23824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68483-A9A9-2E4D-01C1-8D584251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BB79D-2C3E-08DE-08DD-2C05454C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EEEC5-E308-BD47-F13B-E4DCB9F7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1599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5A5D-1B2C-DB24-D336-65B5D178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684EC-7CF8-EA2B-502D-774CE4ED6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19A6-14C8-529A-BF6D-6EC5AB48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A7EBD-EFDA-4A7E-F3E1-AC655D63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CF653-749A-C7EF-E221-E33EF132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9923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D16D2-4295-7A48-E716-A2E16C6AC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9D7EE-F218-A95A-4D88-9EAABD0BE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0423-45CE-D571-F1DD-33F38D55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B53F-1FFF-4E54-0C98-DE4FD0AC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77836-BC1D-BEF3-C762-22F87445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5868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60DD3-241D-1FB2-5BA3-ED6BE20F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1CF7-F289-B872-C610-20346B700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0B433-2A1A-5BE5-0432-9081D4735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0331B-DFEF-8C4B-AA13-0C8465A68FC6}" type="datetimeFigureOut">
              <a:rPr lang="en-BD" smtClean="0"/>
              <a:t>11/6/26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9BA10-DD67-8D70-5023-BC17D9ED8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EF7B-6B4D-0629-DFB7-CE32FA500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736E2-DC49-8D44-A6E4-6D3B9F74551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84962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DF8591-311C-0111-C18E-3D5ED21943E0}"/>
              </a:ext>
            </a:extLst>
          </p:cNvPr>
          <p:cNvSpPr/>
          <p:nvPr/>
        </p:nvSpPr>
        <p:spPr>
          <a:xfrm>
            <a:off x="93292" y="3520120"/>
            <a:ext cx="1723455" cy="763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1200" dirty="0">
                <a:solidFill>
                  <a:schemeClr val="bg1"/>
                </a:solidFill>
              </a:rPr>
              <a:t>Defects4j:</a:t>
            </a:r>
          </a:p>
          <a:p>
            <a:pPr algn="ctr"/>
            <a:r>
              <a:rPr lang="en-BD" sz="1200" dirty="0">
                <a:solidFill>
                  <a:schemeClr val="bg1"/>
                </a:solidFill>
              </a:rPr>
              <a:t>Lang + Math projects</a:t>
            </a:r>
          </a:p>
          <a:p>
            <a:pPr algn="ctr"/>
            <a:r>
              <a:rPr lang="en-BD" sz="1200" dirty="0">
                <a:solidFill>
                  <a:schemeClr val="bg1"/>
                </a:solidFill>
              </a:rPr>
              <a:t>(3842 unique methods)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22896C-C730-42DD-36E8-422284E4977C}"/>
              </a:ext>
            </a:extLst>
          </p:cNvPr>
          <p:cNvCxnSpPr>
            <a:cxnSpLocks/>
          </p:cNvCxnSpPr>
          <p:nvPr/>
        </p:nvCxnSpPr>
        <p:spPr>
          <a:xfrm>
            <a:off x="1827227" y="390310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42955F-451B-2E08-EA38-111699379B0E}"/>
              </a:ext>
            </a:extLst>
          </p:cNvPr>
          <p:cNvCxnSpPr>
            <a:cxnSpLocks/>
          </p:cNvCxnSpPr>
          <p:nvPr/>
        </p:nvCxnSpPr>
        <p:spPr>
          <a:xfrm flipV="1">
            <a:off x="1827227" y="3048905"/>
            <a:ext cx="361811" cy="618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7CA2BF-434E-AEC4-4672-FF3CE0C303CB}"/>
              </a:ext>
            </a:extLst>
          </p:cNvPr>
          <p:cNvCxnSpPr>
            <a:cxnSpLocks/>
          </p:cNvCxnSpPr>
          <p:nvPr/>
        </p:nvCxnSpPr>
        <p:spPr>
          <a:xfrm>
            <a:off x="1807228" y="4117278"/>
            <a:ext cx="457200" cy="635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D091D50-B987-467D-C953-5D88B47508F1}"/>
              </a:ext>
            </a:extLst>
          </p:cNvPr>
          <p:cNvSpPr/>
          <p:nvPr/>
        </p:nvSpPr>
        <p:spPr>
          <a:xfrm>
            <a:off x="2264076" y="1803626"/>
            <a:ext cx="2045249" cy="1106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java-</a:t>
            </a:r>
            <a:r>
              <a:rPr lang="en-US" sz="1200" b="1" dirty="0" err="1">
                <a:solidFill>
                  <a:schemeClr val="bg1"/>
                </a:solidFill>
              </a:rPr>
              <a:t>callgraph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Static code features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8 features-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e.g. loc, </a:t>
            </a:r>
            <a:r>
              <a:rPr lang="en-US" sz="1200" dirty="0" err="1">
                <a:solidFill>
                  <a:schemeClr val="bg1"/>
                </a:solidFill>
              </a:rPr>
              <a:t>num_method_calls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num_arith_ops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2AF4636-AF95-132C-4B58-E2F6FD55F734}"/>
              </a:ext>
            </a:extLst>
          </p:cNvPr>
          <p:cNvSpPr/>
          <p:nvPr/>
        </p:nvSpPr>
        <p:spPr>
          <a:xfrm>
            <a:off x="2284427" y="3162164"/>
            <a:ext cx="1947177" cy="140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tree-climber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Control-flow graph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13 features-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e.g. </a:t>
            </a:r>
            <a:r>
              <a:rPr lang="en-US" sz="1200" dirty="0" err="1">
                <a:solidFill>
                  <a:schemeClr val="bg1"/>
                </a:solidFill>
              </a:rPr>
              <a:t>cyclomatic_complexity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num_branches</a:t>
            </a:r>
            <a:r>
              <a:rPr lang="en-US" sz="1200" dirty="0">
                <a:solidFill>
                  <a:schemeClr val="bg1"/>
                </a:solidFill>
              </a:rPr>
              <a:t> , </a:t>
            </a:r>
            <a:r>
              <a:rPr lang="en-US" sz="1200" dirty="0" err="1">
                <a:solidFill>
                  <a:schemeClr val="bg1"/>
                </a:solidFill>
              </a:rPr>
              <a:t>max_nesting_depth</a:t>
            </a:r>
            <a:endParaRPr lang="en-BD" sz="1200" dirty="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715CF6-14AF-3A43-021A-81884F4262DA}"/>
              </a:ext>
            </a:extLst>
          </p:cNvPr>
          <p:cNvSpPr/>
          <p:nvPr/>
        </p:nvSpPr>
        <p:spPr>
          <a:xfrm>
            <a:off x="2264076" y="4939525"/>
            <a:ext cx="2175169" cy="1106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Major mutation framework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Mutation profile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9 features-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e.g. </a:t>
            </a:r>
            <a:r>
              <a:rPr lang="en-US" sz="1200" dirty="0" err="1">
                <a:solidFill>
                  <a:schemeClr val="bg1"/>
                </a:solidFill>
              </a:rPr>
              <a:t>num_total_mutants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frac_ROR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frac_AOR</a:t>
            </a:r>
            <a:endParaRPr lang="en-BD" sz="1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5E3A8-AB39-4C8B-3C2C-B7D640094F4F}"/>
              </a:ext>
            </a:extLst>
          </p:cNvPr>
          <p:cNvSpPr txBox="1"/>
          <p:nvPr/>
        </p:nvSpPr>
        <p:spPr>
          <a:xfrm>
            <a:off x="2225672" y="1298524"/>
            <a:ext cx="212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 extraction tools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0DF869-69AB-C520-DEDB-E9D196D4392F}"/>
              </a:ext>
            </a:extLst>
          </p:cNvPr>
          <p:cNvCxnSpPr>
            <a:cxnSpLocks/>
          </p:cNvCxnSpPr>
          <p:nvPr/>
        </p:nvCxnSpPr>
        <p:spPr>
          <a:xfrm>
            <a:off x="4172819" y="3864591"/>
            <a:ext cx="5399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F46EF7-A968-84F0-C564-19A7652CCBE4}"/>
              </a:ext>
            </a:extLst>
          </p:cNvPr>
          <p:cNvCxnSpPr>
            <a:cxnSpLocks/>
          </p:cNvCxnSpPr>
          <p:nvPr/>
        </p:nvCxnSpPr>
        <p:spPr>
          <a:xfrm>
            <a:off x="4286031" y="2195464"/>
            <a:ext cx="480494" cy="1343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958016-23A3-2DAB-46AB-9156250DCB90}"/>
              </a:ext>
            </a:extLst>
          </p:cNvPr>
          <p:cNvCxnSpPr>
            <a:cxnSpLocks/>
          </p:cNvCxnSpPr>
          <p:nvPr/>
        </p:nvCxnSpPr>
        <p:spPr>
          <a:xfrm flipV="1">
            <a:off x="4459244" y="4241493"/>
            <a:ext cx="348343" cy="136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61FF821-9D95-1650-DF42-7E15EE433EBD}"/>
              </a:ext>
            </a:extLst>
          </p:cNvPr>
          <p:cNvSpPr/>
          <p:nvPr/>
        </p:nvSpPr>
        <p:spPr>
          <a:xfrm>
            <a:off x="4712751" y="3539066"/>
            <a:ext cx="1947178" cy="710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Final Dataset: 3,872 methods × 30 numeric features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481C9ED-DFC9-40B9-7706-EDF2B41F69DD}"/>
              </a:ext>
            </a:extLst>
          </p:cNvPr>
          <p:cNvSpPr/>
          <p:nvPr/>
        </p:nvSpPr>
        <p:spPr>
          <a:xfrm>
            <a:off x="6855873" y="3266947"/>
            <a:ext cx="1947178" cy="1272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Preprocessing: 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 one-hot encoding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 IQR outlier capping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 standard scaling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•  PCA (6 components, 80% variance)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563232-5FEB-1FCE-44E1-6683F7BBF72C}"/>
              </a:ext>
            </a:extLst>
          </p:cNvPr>
          <p:cNvCxnSpPr>
            <a:cxnSpLocks/>
          </p:cNvCxnSpPr>
          <p:nvPr/>
        </p:nvCxnSpPr>
        <p:spPr>
          <a:xfrm flipV="1">
            <a:off x="6659929" y="3894237"/>
            <a:ext cx="195944" cy="1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2AF431-D4A3-F43B-2C6D-E1B72E2A52C7}"/>
              </a:ext>
            </a:extLst>
          </p:cNvPr>
          <p:cNvCxnSpPr>
            <a:cxnSpLocks/>
          </p:cNvCxnSpPr>
          <p:nvPr/>
        </p:nvCxnSpPr>
        <p:spPr>
          <a:xfrm flipV="1">
            <a:off x="8818089" y="3429000"/>
            <a:ext cx="180906" cy="292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A31C8A-92A7-43CC-9046-92AF5DCA0004}"/>
              </a:ext>
            </a:extLst>
          </p:cNvPr>
          <p:cNvCxnSpPr>
            <a:cxnSpLocks/>
          </p:cNvCxnSpPr>
          <p:nvPr/>
        </p:nvCxnSpPr>
        <p:spPr>
          <a:xfrm>
            <a:off x="8803051" y="4117278"/>
            <a:ext cx="180906" cy="252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4BA1031-58F0-A83A-8607-BC51F291BF8E}"/>
              </a:ext>
            </a:extLst>
          </p:cNvPr>
          <p:cNvSpPr/>
          <p:nvPr/>
        </p:nvSpPr>
        <p:spPr>
          <a:xfrm>
            <a:off x="8777100" y="1400438"/>
            <a:ext cx="2217086" cy="20079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Supervised Classification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Decision Tree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KNN (k=15)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Naïve Bayes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Random Forest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AdaBoost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MLP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bg1"/>
                </a:solidFill>
              </a:rPr>
              <a:t>+ 3 baselines: majority class, LOC-only tree, operator-only tree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8FEE75B-6F2E-CEE1-A9B5-C897B5D7DDED}"/>
              </a:ext>
            </a:extLst>
          </p:cNvPr>
          <p:cNvSpPr/>
          <p:nvPr/>
        </p:nvSpPr>
        <p:spPr>
          <a:xfrm>
            <a:off x="8777101" y="4452524"/>
            <a:ext cx="2217084" cy="883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Unsupervised Analysis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K-Means clustering (k = 3)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 Homogeneity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   Completeness 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F76077-AA0B-F21C-2AEE-2B7D2BE71D39}"/>
              </a:ext>
            </a:extLst>
          </p:cNvPr>
          <p:cNvCxnSpPr>
            <a:cxnSpLocks/>
          </p:cNvCxnSpPr>
          <p:nvPr/>
        </p:nvCxnSpPr>
        <p:spPr>
          <a:xfrm flipH="1" flipV="1">
            <a:off x="9873857" y="1093282"/>
            <a:ext cx="23572" cy="822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931059-04F8-3E17-811C-F5AA024E35DF}"/>
              </a:ext>
            </a:extLst>
          </p:cNvPr>
          <p:cNvCxnSpPr>
            <a:cxnSpLocks/>
          </p:cNvCxnSpPr>
          <p:nvPr/>
        </p:nvCxnSpPr>
        <p:spPr>
          <a:xfrm>
            <a:off x="9894489" y="5267178"/>
            <a:ext cx="0" cy="409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61B353F-6D89-A139-25AD-23C3A42B4638}"/>
              </a:ext>
            </a:extLst>
          </p:cNvPr>
          <p:cNvSpPr/>
          <p:nvPr/>
        </p:nvSpPr>
        <p:spPr>
          <a:xfrm>
            <a:off x="8983957" y="5669578"/>
            <a:ext cx="1947178" cy="710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Predicted testability:  </a:t>
            </a:r>
            <a:r>
              <a:rPr lang="en-US" sz="1200" i="1" dirty="0">
                <a:solidFill>
                  <a:schemeClr val="bg1"/>
                </a:solidFill>
              </a:rPr>
              <a:t>low / medium / high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201E1A1-85AA-0FEC-5A54-A21F3626CE2B}"/>
              </a:ext>
            </a:extLst>
          </p:cNvPr>
          <p:cNvSpPr/>
          <p:nvPr/>
        </p:nvSpPr>
        <p:spPr>
          <a:xfrm>
            <a:off x="8923840" y="101599"/>
            <a:ext cx="1803427" cy="1016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Evaluation: 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stratified 5-fold CV     </a:t>
            </a:r>
            <a:r>
              <a:rPr lang="en-US" sz="1200" dirty="0" err="1">
                <a:solidFill>
                  <a:schemeClr val="bg1"/>
                </a:solidFill>
              </a:rPr>
              <a:t>GroupKFold</a:t>
            </a:r>
            <a:r>
              <a:rPr lang="en-US" sz="1200" dirty="0">
                <a:solidFill>
                  <a:schemeClr val="bg1"/>
                </a:solidFill>
              </a:rPr>
              <a:t> by class   Cross-project transfer (Lang ↔ Math)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28EFB5-5297-3DF7-6E66-F51852F7C1E3}"/>
              </a:ext>
            </a:extLst>
          </p:cNvPr>
          <p:cNvSpPr/>
          <p:nvPr/>
        </p:nvSpPr>
        <p:spPr>
          <a:xfrm>
            <a:off x="2074055" y="1054641"/>
            <a:ext cx="2473234" cy="5363977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BD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7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181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Fairuz Bilquis Khan</dc:creator>
  <cp:lastModifiedBy>Fairuz Bilquis Khan</cp:lastModifiedBy>
  <cp:revision>3</cp:revision>
  <dcterms:created xsi:type="dcterms:W3CDTF">2026-06-12T02:27:50Z</dcterms:created>
  <dcterms:modified xsi:type="dcterms:W3CDTF">2026-06-12T02:52:26Z</dcterms:modified>
</cp:coreProperties>
</file>